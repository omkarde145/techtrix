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BA25CC-A3C9-BEDB-59F7-F33A31CAA6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CE647D-B554-7CDA-8D2D-483A286B81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D59D39-4CD6-1165-75C3-852DF7AF01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51E8FA-6E26-EAC3-BEF9-FA442254C9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F027F6-5AEC-9526-4038-C47454B7FD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A9C94-2175-A904-0C60-4C1E4093A9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03640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827573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870211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755419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88003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0058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66794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907052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826789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6050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80829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2976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265508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268385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57542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2315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835610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0238977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1347911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4952877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319164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6346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6386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517426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4199251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165342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41338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5339983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046049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8119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236183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8486955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310702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29018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5999342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533276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758359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001397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1882129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094394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4509377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02203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0417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169560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5665593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59993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4454261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122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6458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283204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43115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821542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35005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24487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1332374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722314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245241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07871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645599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124361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717519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2611827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74629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media1.svg"/><Relationship Id="rId6" Type="http://schemas.openxmlformats.org/officeDocument/2006/relationships/image" Target="../media/image3.png"/><Relationship Id="rId7" Type="http://schemas.openxmlformats.org/officeDocument/2006/relationships/image" Target="../media/media2.svg"/><Relationship Id="rId8" Type="http://schemas.openxmlformats.org/officeDocument/2006/relationships/image" Target="../media/image4.png"/><Relationship Id="rId9" Type="http://schemas.openxmlformats.org/officeDocument/2006/relationships/image" Target="../media/media3.svg"/><Relationship Id="rId10" Type="http://schemas.openxmlformats.org/officeDocument/2006/relationships/image" Target="../media/image5.png"/><Relationship Id="rId11" Type="http://schemas.openxmlformats.org/officeDocument/2006/relationships/image" Target="../media/media4.sv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9.jp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media5.svg"/><Relationship Id="rId7" Type="http://schemas.openxmlformats.org/officeDocument/2006/relationships/image" Target="../media/image9.jp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jp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9.jp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9.jp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653840" name="Freeform 2"/>
          <p:cNvSpPr/>
          <p:nvPr/>
        </p:nvSpPr>
        <p:spPr bwMode="auto">
          <a:xfrm rot="0" flipH="0" flipV="0">
            <a:off x="-476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9259" r="0" b="-9259"/>
            </a:stretch>
          </a:blipFill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66335917" name="Freeform 3"/>
          <p:cNvSpPr/>
          <p:nvPr/>
        </p:nvSpPr>
        <p:spPr bwMode="auto">
          <a:xfrm rot="-5400000" flipH="0" flipV="0">
            <a:off x="16128202" y="201420"/>
            <a:ext cx="3764454" cy="3702854"/>
          </a:xfrm>
          <a:custGeom>
            <a:avLst/>
            <a:gdLst/>
            <a:ahLst/>
            <a:cxnLst/>
            <a:rect l="l" t="t" r="r" b="b"/>
            <a:pathLst>
              <a:path w="3764454" h="3702854" fill="norm" stroke="1" extrusionOk="0">
                <a:moveTo>
                  <a:pt x="0" y="0"/>
                </a:moveTo>
                <a:lnTo>
                  <a:pt x="3764455" y="0"/>
                </a:lnTo>
                <a:lnTo>
                  <a:pt x="3764455" y="3702855"/>
                </a:lnTo>
                <a:lnTo>
                  <a:pt x="0" y="3702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1921884611" name="Freeform 4"/>
          <p:cNvSpPr/>
          <p:nvPr/>
        </p:nvSpPr>
        <p:spPr bwMode="auto">
          <a:xfrm rot="0" flipH="1" flipV="0">
            <a:off x="18010428" y="2608020"/>
            <a:ext cx="4845062" cy="6515364"/>
          </a:xfrm>
          <a:custGeom>
            <a:avLst/>
            <a:gdLst/>
            <a:ahLst/>
            <a:cxnLst/>
            <a:rect l="l" t="t" r="r" b="b"/>
            <a:pathLst>
              <a:path w="4845062" h="6515364" fill="norm" stroke="1" extrusionOk="0">
                <a:moveTo>
                  <a:pt x="4845062" y="0"/>
                </a:moveTo>
                <a:lnTo>
                  <a:pt x="0" y="0"/>
                </a:lnTo>
                <a:lnTo>
                  <a:pt x="0" y="6515364"/>
                </a:lnTo>
                <a:lnTo>
                  <a:pt x="4845062" y="6515364"/>
                </a:lnTo>
                <a:lnTo>
                  <a:pt x="4845062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751940707" name="Freeform 5"/>
          <p:cNvSpPr/>
          <p:nvPr/>
        </p:nvSpPr>
        <p:spPr bwMode="auto">
          <a:xfrm rot="0" flipH="0" flipV="0">
            <a:off x="15693216" y="7821861"/>
            <a:ext cx="1494485" cy="1741456"/>
          </a:xfrm>
          <a:custGeom>
            <a:avLst/>
            <a:gdLst/>
            <a:ahLst/>
            <a:cxnLst/>
            <a:rect l="l" t="t" r="r" b="b"/>
            <a:pathLst>
              <a:path w="1494485" h="1741456" fill="norm" stroke="1" extrusionOk="0">
                <a:moveTo>
                  <a:pt x="0" y="0"/>
                </a:moveTo>
                <a:lnTo>
                  <a:pt x="1494485" y="0"/>
                </a:lnTo>
                <a:lnTo>
                  <a:pt x="1494485" y="1741456"/>
                </a:lnTo>
                <a:lnTo>
                  <a:pt x="0" y="1741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 l="0" t="0" r="0" b="0"/>
            </a:stretch>
          </a:blipFill>
        </p:spPr>
      </p:sp>
      <p:sp>
        <p:nvSpPr>
          <p:cNvPr id="1833792437" name="Freeform 6"/>
          <p:cNvSpPr/>
          <p:nvPr/>
        </p:nvSpPr>
        <p:spPr bwMode="auto">
          <a:xfrm rot="0" flipH="0" flipV="0">
            <a:off x="16535252" y="0"/>
            <a:ext cx="2100643" cy="2608021"/>
          </a:xfrm>
          <a:custGeom>
            <a:avLst/>
            <a:gdLst/>
            <a:ahLst/>
            <a:cxnLst/>
            <a:rect l="l" t="t" r="r" b="b"/>
            <a:pathLst>
              <a:path w="2100643" h="2608021" fill="norm" stroke="1" extrusionOk="0">
                <a:moveTo>
                  <a:pt x="0" y="0"/>
                </a:moveTo>
                <a:lnTo>
                  <a:pt x="2100642" y="0"/>
                </a:lnTo>
                <a:lnTo>
                  <a:pt x="2100642" y="2608021"/>
                </a:lnTo>
                <a:lnTo>
                  <a:pt x="0" y="2608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/>
            <a:stretch>
              <a:fillRect l="0" t="0" r="0" b="0"/>
            </a:stretch>
          </a:blipFill>
        </p:spPr>
      </p:sp>
      <p:sp>
        <p:nvSpPr>
          <p:cNvPr id="504921456" name="Freeform 7"/>
          <p:cNvSpPr/>
          <p:nvPr/>
        </p:nvSpPr>
        <p:spPr bwMode="auto">
          <a:xfrm rot="0" flipH="0" flipV="0">
            <a:off x="-459730" y="8494591"/>
            <a:ext cx="2976861" cy="2928148"/>
          </a:xfrm>
          <a:custGeom>
            <a:avLst/>
            <a:gdLst/>
            <a:ahLst/>
            <a:cxnLst/>
            <a:rect l="l" t="t" r="r" b="b"/>
            <a:pathLst>
              <a:path w="2976861" h="2928148" fill="norm" stroke="1" extrusionOk="0">
                <a:moveTo>
                  <a:pt x="0" y="0"/>
                </a:moveTo>
                <a:lnTo>
                  <a:pt x="2976860" y="0"/>
                </a:lnTo>
                <a:lnTo>
                  <a:pt x="2976860" y="2928149"/>
                </a:lnTo>
                <a:lnTo>
                  <a:pt x="0" y="292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14" name="TextBox 14"/>
          <p:cNvSpPr txBox="1"/>
          <p:nvPr/>
        </p:nvSpPr>
        <p:spPr bwMode="auto">
          <a:xfrm rot="0" flipH="0" flipV="0">
            <a:off x="1323974" y="1767096"/>
            <a:ext cx="15544800" cy="222225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6800"/>
              </a:lnSpc>
              <a:buNone/>
              <a:defRPr/>
            </a:pPr>
            <a:r>
              <a:rPr lang="en-US" sz="5400" b="1" u="none">
                <a:solidFill>
                  <a:srgbClr val="1F497D"/>
                </a:solidFill>
                <a:latin typeface="Georgia"/>
                <a:cs typeface="Georgia"/>
              </a:rPr>
              <a:t>Hackathon - TechTrix 2024</a:t>
            </a:r>
          </a:p>
          <a:p>
            <a:pPr algn="ctr">
              <a:lnSpc>
                <a:spcPts val="2600"/>
              </a:lnSpc>
              <a:spcBfr>
                <a:spcPts val="600"/>
              </a:spcBfr>
              <a:buNone/>
              <a:defRPr/>
            </a:pPr>
            <a:r>
              <a:rPr lang="en-US" sz="2000" b="1" u="none">
                <a:solidFill>
                  <a:srgbClr val="0E4D8C"/>
                </a:solidFill>
                <a:latin typeface="Arial"/>
                <a:cs typeface="Arial"/>
              </a:rPr>
              <a:t>National Innovation &amp; GovTech Hackathon | ITS Engineering College, NFED &amp; E-Cell</a:t>
            </a:r>
          </a:p>
        </p:txBody>
      </p:sp>
      <p:sp>
        <p:nvSpPr>
          <p:cNvPr id="1126988929" name="TextBox 15"/>
          <p:cNvSpPr txBox="1"/>
          <p:nvPr/>
        </p:nvSpPr>
        <p:spPr bwMode="auto">
          <a:xfrm rot="0" flipH="0" flipV="0">
            <a:off x="773428" y="2883636"/>
            <a:ext cx="11915203" cy="466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  <a:spcBfr>
                <a:spcPts val="800"/>
              </a:spcBfr>
              <a:buNone/>
              <a:defRPr/>
            </a:pPr>
            <a:r>
              <a:rPr lang="en-US" sz="2400" b="1" u="none">
                <a:solidFill>
                  <a:srgbClr val="1F497D"/>
                </a:solidFill>
                <a:latin typeface="Georgia"/>
                <a:cs typeface="Georgia"/>
              </a:rPr>
              <a:t>Title - </a:t>
            </a:r>
            <a:r>
              <a:rPr lang="en-US" sz="2100" b="1" u="none">
                <a:solidFill>
                  <a:srgbClr val="0F172A"/>
                </a:solidFill>
                <a:latin typeface="Georgia"/>
                <a:cs typeface="Georgia"/>
              </a:rPr>
              <a:t>GraminVikas 360: Offline-First AI-Verified Monitoring &amp; Automated PFMS DBT System for Rural Housing (PMAY-G) &amp; Panchayat Development Works</a:t>
            </a:r>
          </a:p>
          <a:p>
            <a:pPr algn="l">
              <a:lnSpc>
                <a:spcPts val="2600"/>
              </a:lnSpc>
              <a:spcBfr>
                <a:spcPts val="1000"/>
              </a:spcBfr>
              <a:buNone/>
              <a:defRPr/>
            </a:pPr>
            <a:r>
              <a:rPr lang="en-US" sz="2000" b="1" u="none">
                <a:solidFill>
                  <a:srgbClr val="1F497D"/>
                </a:solidFill>
                <a:latin typeface="Georgia"/>
                <a:cs typeface="Georgia"/>
              </a:rPr>
              <a:t>PS Category - </a:t>
            </a:r>
            <a:r>
              <a:rPr lang="en-US" sz="1900" b="0" u="none">
                <a:solidFill>
                  <a:srgbClr val="1E293B"/>
                </a:solidFill>
                <a:latin typeface="Arial"/>
                <a:cs typeface="Arial"/>
              </a:rPr>
              <a:t>Software / IOT (GovTech, Rural Housing &amp; Public Finance Management)</a:t>
            </a:r>
          </a:p>
          <a:p>
            <a:pPr algn="l">
              <a:lnSpc>
                <a:spcPts val="2600"/>
              </a:lnSpc>
              <a:spcBfr>
                <a:spcPts val="1000"/>
              </a:spcBfr>
              <a:buNone/>
              <a:defRPr/>
            </a:pPr>
            <a:r>
              <a:rPr lang="en-US" sz="2000" b="1" u="none">
                <a:solidFill>
                  <a:srgbClr val="1F497D"/>
                </a:solidFill>
                <a:latin typeface="Georgia"/>
                <a:cs typeface="Georgia"/>
              </a:rPr>
              <a:t>Team Name (Registered) - </a:t>
            </a:r>
            <a:r>
              <a:rPr lang="en-US" sz="1900" b="1" u="none">
                <a:solidFill>
                  <a:srgbClr val="0E4D8C"/>
                </a:solidFill>
                <a:latin typeface="Arial"/>
                <a:cs typeface="Arial"/>
              </a:rPr>
              <a:t>Team GraminTech (Registered ID: TECHTRIX-2024-GV360)</a:t>
            </a:r>
          </a:p>
          <a:p>
            <a:pPr algn="l">
              <a:lnSpc>
                <a:spcPts val="2600"/>
              </a:lnSpc>
              <a:spcBfr>
                <a:spcPts val="1200"/>
              </a:spcBfr>
              <a:buNone/>
              <a:defRPr/>
            </a:pPr>
            <a:r>
              <a:rPr lang="en-US" sz="2000" b="1" u="none">
                <a:solidFill>
                  <a:srgbClr val="1F497D"/>
                </a:solidFill>
                <a:latin typeface="Georgia"/>
                <a:cs typeface="Georgia"/>
              </a:rPr>
              <a:t>Team Member Details - (Name, Contact, College):</a:t>
            </a:r>
          </a:p>
          <a:p>
            <a:pPr algn="l" lvl="1" marL="648000" indent="-216000">
              <a:lnSpc>
                <a:spcPts val="2200"/>
              </a:lnSpc>
              <a:spcBfr>
                <a:spcPts val="500"/>
              </a:spcBfr>
              <a:buFont typeface="Arial"/>
              <a:buChar char="•"/>
              <a:defRPr/>
            </a:pPr>
            <a:r>
              <a:rPr lang="en-US" sz="1600" b="1" u="none">
                <a:solidFill>
                  <a:srgbClr val="0E4D8C"/>
                </a:solidFill>
                <a:latin typeface="Georgia"/>
                <a:cs typeface="Georgia"/>
              </a:rPr>
              <a:t>Omkar De </a:t>
            </a:r>
            <a:r>
              <a:rPr lang="en-US" sz="1500" b="0" u="none">
                <a:solidFill>
                  <a:srgbClr val="334155"/>
                </a:solidFill>
                <a:latin typeface="Arial"/>
                <a:cs typeface="Arial"/>
              </a:rPr>
              <a:t>(Lead System Architect &amp; PWA Specialist) – </a:t>
            </a:r>
            <a:r>
              <a:rPr lang="en-US" sz="1400" b="0" u="none">
                <a:solidFill>
                  <a:srgbClr val="475569"/>
                </a:solidFill>
                <a:latin typeface="Arial"/>
                <a:cs typeface="Arial"/>
              </a:rPr>
              <a:t>omkar.de@techtrix.ac.in | +91-9876543210 | ITS Engineering College, Greater Noida</a:t>
            </a:r>
          </a:p>
          <a:p>
            <a:pPr algn="l" lvl="1" marL="648000" indent="-216000">
              <a:lnSpc>
                <a:spcPts val="2200"/>
              </a:lnSpc>
              <a:spcBfr>
                <a:spcPts val="500"/>
              </a:spcBfr>
              <a:buFont typeface="Arial"/>
              <a:buChar char="•"/>
              <a:defRPr/>
            </a:pPr>
            <a:r>
              <a:rPr lang="en-US" sz="1600" b="1" u="none">
                <a:solidFill>
                  <a:srgbClr val="0E4D8C"/>
                </a:solidFill>
                <a:latin typeface="Georgia"/>
                <a:cs typeface="Georgia"/>
              </a:rPr>
              <a:t>Team Member 2 </a:t>
            </a:r>
            <a:r>
              <a:rPr lang="en-US" sz="1500" b="0" u="none">
                <a:solidFill>
                  <a:srgbClr val="334155"/>
                </a:solidFill>
                <a:latin typeface="Arial"/>
                <a:cs typeface="Arial"/>
              </a:rPr>
              <a:t>(Cryptography &amp; Offline Sync Engineer) – </a:t>
            </a:r>
            <a:r>
              <a:rPr lang="en-US" sz="1400" b="0" u="none">
                <a:solidFill>
                  <a:srgbClr val="475569"/>
                </a:solidFill>
                <a:latin typeface="Arial"/>
                <a:cs typeface="Arial"/>
              </a:rPr>
              <a:t>member2@techtrix.ac.in | +91-9876543211 | ITS Engineering College, Greater Noida</a:t>
            </a:r>
          </a:p>
          <a:p>
            <a:pPr algn="l" lvl="1" marL="648000" indent="-216000">
              <a:lnSpc>
                <a:spcPts val="2200"/>
              </a:lnSpc>
              <a:spcBfr>
                <a:spcPts val="500"/>
              </a:spcBfr>
              <a:buFont typeface="Arial"/>
              <a:buChar char="•"/>
              <a:defRPr/>
            </a:pPr>
            <a:r>
              <a:rPr lang="en-US" sz="1600" b="1" u="none">
                <a:solidFill>
                  <a:srgbClr val="0E4D8C"/>
                </a:solidFill>
                <a:latin typeface="Georgia"/>
                <a:cs typeface="Georgia"/>
              </a:rPr>
              <a:t>Team Member 3 </a:t>
            </a:r>
            <a:r>
              <a:rPr lang="en-US" sz="1500" b="0" u="none">
                <a:solidFill>
                  <a:srgbClr val="334155"/>
                </a:solidFill>
                <a:latin typeface="Arial"/>
                <a:cs typeface="Arial"/>
              </a:rPr>
              <a:t>(Computer Vision &amp; 3D GIS Engineer) – </a:t>
            </a:r>
            <a:r>
              <a:rPr lang="en-US" sz="1400" b="0" u="none">
                <a:solidFill>
                  <a:srgbClr val="475569"/>
                </a:solidFill>
                <a:latin typeface="Arial"/>
                <a:cs typeface="Arial"/>
              </a:rPr>
              <a:t>member3@techtrix.ac.in | +91-9876543212 | ITS Engineering College, Greater Noida</a:t>
            </a:r>
          </a:p>
          <a:p>
            <a:pPr algn="l" lvl="1" marL="648000" indent="-216000">
              <a:lnSpc>
                <a:spcPts val="2200"/>
              </a:lnSpc>
              <a:spcBfr>
                <a:spcPts val="500"/>
              </a:spcBfr>
              <a:buFont typeface="Arial"/>
              <a:buChar char="•"/>
              <a:defRPr/>
            </a:pPr>
            <a:r>
              <a:rPr lang="en-US" sz="1600" b="1" u="none">
                <a:solidFill>
                  <a:srgbClr val="0E4D8C"/>
                </a:solidFill>
                <a:latin typeface="Georgia"/>
                <a:cs typeface="Georgia"/>
              </a:rPr>
              <a:t>Team Member 4 </a:t>
            </a:r>
            <a:r>
              <a:rPr lang="en-US" sz="1500" b="0" u="none">
                <a:solidFill>
                  <a:srgbClr val="334155"/>
                </a:solidFill>
                <a:latin typeface="Arial"/>
                <a:cs typeface="Arial"/>
              </a:rPr>
              <a:t>(GovTech Policy &amp; PFMS DBT Analyst) – </a:t>
            </a:r>
            <a:r>
              <a:rPr lang="en-US" sz="1400" b="0" u="none">
                <a:solidFill>
                  <a:srgbClr val="475569"/>
                </a:solidFill>
                <a:latin typeface="Arial"/>
                <a:cs typeface="Arial"/>
              </a:rPr>
              <a:t>member4@techtrix.ac.in | +91-9876543213 | ITS Engineering College, Greater Noida</a:t>
            </a:r>
          </a:p>
          <a:p>
            <a:pPr algn="l">
              <a:lnSpc>
                <a:spcPts val="2200"/>
              </a:lnSpc>
              <a:spcBfr>
                <a:spcPts val="1000"/>
              </a:spcBfr>
              <a:buNone/>
              <a:defRPr/>
            </a:pPr>
            <a:r>
              <a:rPr lang="en-US" sz="1500" b="1" u="none">
                <a:solidFill>
                  <a:srgbClr val="047857"/>
                </a:solidFill>
                <a:latin typeface="Georgia"/>
                <a:cs typeface="Georgia"/>
              </a:rPr>
              <a:t>Core Innovation: </a:t>
            </a:r>
            <a:r>
              <a:rPr lang="en-US" sz="1450" b="0" u="none">
                <a:solidFill>
                  <a:srgbClr val="065F46"/>
                </a:solidFill>
                <a:latin typeface="Arial"/>
                <a:cs typeface="Arial"/>
              </a:rPr>
              <a:t>Zero-Trust Offline Field Verification • 3D Geofence &amp; Liveness Guard • SECC/NFSA Deduplication • 48-Hour PFMS DBT Release</a:t>
            </a:r>
          </a:p>
        </p:txBody>
      </p:sp>
      <p:sp>
        <p:nvSpPr>
          <p:cNvPr id="1453139873" name=""/>
          <p:cNvSpPr/>
          <p:nvPr/>
        </p:nvSpPr>
        <p:spPr bwMode="auto">
          <a:xfrm rot="0" flipH="0" flipV="0">
            <a:off x="526311" y="304799"/>
            <a:ext cx="1809750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575294573" name="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 flipH="0" flipV="0">
            <a:off x="773428" y="386190"/>
            <a:ext cx="1336234" cy="1380906"/>
          </a:xfrm>
          <a:prstGeom prst="rect">
            <a:avLst/>
          </a:prstGeom>
        </p:spPr>
      </p:pic>
      <p:sp>
        <p:nvSpPr>
          <p:cNvPr id="577254192" name=""/>
          <p:cNvSpPr/>
          <p:nvPr/>
        </p:nvSpPr>
        <p:spPr bwMode="auto">
          <a:xfrm rot="0" flipH="0" flipV="0">
            <a:off x="14691452" y="386190"/>
            <a:ext cx="3064451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316514779" name="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 flipH="0" flipV="0">
            <a:off x="14745671" y="467151"/>
            <a:ext cx="3010232" cy="1290637"/>
          </a:xfrm>
          <a:prstGeom prst="rect">
            <a:avLst/>
          </a:prstGeom>
        </p:spPr>
      </p:pic>
      <p:sp>
        <p:nvSpPr>
          <p:cNvPr id="450393932" name=""/>
          <p:cNvSpPr/>
          <p:nvPr/>
        </p:nvSpPr>
        <p:spPr bwMode="auto">
          <a:xfrm rot="0" flipH="0" flipV="0">
            <a:off x="8418319" y="386190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504282639" name=""/>
          <p:cNvPicPr>
            <a:picLocks noChangeAspect="1"/>
          </p:cNvPicPr>
          <p:nvPr/>
        </p:nvPicPr>
        <p:blipFill rotWithShape="1">
          <a:blip r:embed="rId14"/>
          <a:srcRect l="26871" t="33796" r="25074" b="35879"/>
          <a:stretch/>
        </p:blipFill>
        <p:spPr bwMode="auto">
          <a:xfrm flipH="0" flipV="0">
            <a:off x="8530999" y="516765"/>
            <a:ext cx="1584389" cy="1250331"/>
          </a:xfrm>
          <a:prstGeom prst="rect">
            <a:avLst/>
          </a:prstGeom>
        </p:spPr>
      </p:pic>
    </p:spTree>
  </p:cSld>
  <p:clrMapOvr>
    <a:masterClrMapping/>
  </p:clrMapOvr>
  <ns3:AlternateContent>
    <ns3:Choice Requires="p159">
      <p:transition ns4:dur="500" advClick="1"/>
    </ns3:Choice>
    <ns3:Fallback>
      <p:transition advClick="1"/>
    </ns3:Fallback>
  </ns3:AlternateContent>
</p:sld>
</file>

<file path=ppt/slides/slide2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600748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9259" r="0" b="-9259"/>
            </a:stretch>
          </a:blipFill>
        </p:spPr>
      </p:sp>
      <p:sp>
        <p:nvSpPr>
          <p:cNvPr id="1806923974" name="Freeform 3"/>
          <p:cNvSpPr/>
          <p:nvPr/>
        </p:nvSpPr>
        <p:spPr bwMode="auto">
          <a:xfrm rot="-5400000" flipH="0" flipV="0">
            <a:off x="14858865" y="6857865"/>
            <a:ext cx="2924955" cy="3933314"/>
          </a:xfrm>
          <a:custGeom>
            <a:avLst/>
            <a:gdLst/>
            <a:ahLst/>
            <a:cxnLst/>
            <a:rect l="l" t="t" r="r" b="b"/>
            <a:pathLst>
              <a:path w="2924955" h="3933314" fill="norm" stroke="1" extrusionOk="0">
                <a:moveTo>
                  <a:pt x="0" y="0"/>
                </a:moveTo>
                <a:lnTo>
                  <a:pt x="2924956" y="0"/>
                </a:lnTo>
                <a:lnTo>
                  <a:pt x="2924956" y="3933314"/>
                </a:lnTo>
                <a:lnTo>
                  <a:pt x="0" y="393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1833529190" name="Freeform 4"/>
          <p:cNvSpPr/>
          <p:nvPr/>
        </p:nvSpPr>
        <p:spPr bwMode="auto">
          <a:xfrm rot="0" flipH="1" flipV="0">
            <a:off x="0" y="0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841186740" name="Freeform 5"/>
          <p:cNvSpPr/>
          <p:nvPr/>
        </p:nvSpPr>
        <p:spPr bwMode="auto">
          <a:xfrm rot="-10800000" flipH="0" flipV="1">
            <a:off x="-194432" y="8824522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 fill="norm" stroke="1" extrusionOk="0">
                <a:moveTo>
                  <a:pt x="0" y="2406235"/>
                </a:moveTo>
                <a:lnTo>
                  <a:pt x="2446264" y="2406235"/>
                </a:lnTo>
                <a:lnTo>
                  <a:pt x="2446264" y="0"/>
                </a:lnTo>
                <a:lnTo>
                  <a:pt x="0" y="0"/>
                </a:lnTo>
                <a:lnTo>
                  <a:pt x="0" y="2406235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393535841" name="Freeform 6"/>
          <p:cNvSpPr/>
          <p:nvPr/>
        </p:nvSpPr>
        <p:spPr bwMode="auto">
          <a:xfrm rot="0" flipH="0" flipV="0">
            <a:off x="16121194" y="7269473"/>
            <a:ext cx="1334515" cy="1555049"/>
          </a:xfrm>
          <a:custGeom>
            <a:avLst/>
            <a:gdLst/>
            <a:ahLst/>
            <a:cxnLst/>
            <a:rect l="l" t="t" r="r" b="b"/>
            <a:pathLst>
              <a:path w="1334515" h="1555049" fill="norm" stroke="1" extrusionOk="0">
                <a:moveTo>
                  <a:pt x="0" y="0"/>
                </a:moveTo>
                <a:lnTo>
                  <a:pt x="1334515" y="0"/>
                </a:lnTo>
                <a:lnTo>
                  <a:pt x="1334515" y="1555049"/>
                </a:lnTo>
                <a:lnTo>
                  <a:pt x="0" y="1555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</p:sp>
      <p:sp>
        <p:nvSpPr>
          <p:cNvPr id="2014160832" name="Freeform 7"/>
          <p:cNvSpPr/>
          <p:nvPr/>
        </p:nvSpPr>
        <p:spPr bwMode="auto">
          <a:xfrm rot="-10800000" flipH="0" flipV="0">
            <a:off x="16121194" y="-906849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 fill="norm" stroke="1" extrusionOk="0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grpSp>
        <p:nvGrpSpPr>
          <p:cNvPr id="1091083496" name="Group 13"/>
          <p:cNvGrpSpPr/>
          <p:nvPr/>
        </p:nvGrpSpPr>
        <p:grpSpPr bwMode="auto">
          <a:xfrm rot="0">
            <a:off x="628528" y="1513503"/>
            <a:ext cx="16459200" cy="1714500"/>
            <a:chOff x="0" y="0"/>
            <a:chExt cx="21945600" cy="2286000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21945600" cy="2314575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5200"/>
                </a:lnSpc>
                <a:buNone/>
                <a:defRPr/>
              </a:pPr>
              <a:r>
                <a:rPr lang="en-US" sz="4200" b="1" u="none">
                  <a:solidFill>
                    <a:srgbClr val="1F497D"/>
                  </a:solidFill>
                  <a:latin typeface="Georgia"/>
                  <a:cs typeface="Georgia"/>
                </a:rPr>
                <a:t>IDEA TITLE: GraminVikas 360 (Zero-Trust Rural Monitoring &amp; DBT Automation)</a:t>
              </a:r>
            </a:p>
          </p:txBody>
        </p:sp>
      </p:grpSp>
      <p:sp>
        <p:nvSpPr>
          <p:cNvPr id="434111992" name="TextBox 16"/>
          <p:cNvSpPr txBox="1"/>
          <p:nvPr/>
        </p:nvSpPr>
        <p:spPr bwMode="auto">
          <a:xfrm rot="0" flipH="0" flipV="0">
            <a:off x="855363" y="3500000"/>
            <a:ext cx="16500000" cy="63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fr>
                <a:spcPts val="600"/>
              </a:spcBfr>
              <a:buNone/>
              <a:defRPr/>
            </a:pPr>
            <a:r>
              <a:rPr lang="en-US" sz="1900" b="1" u="sng">
                <a:solidFill>
                  <a:srgbClr val="1F497D"/>
                </a:solidFill>
                <a:latin typeface="Georgia"/>
                <a:cs typeface="Georgia"/>
              </a:rPr>
              <a:t>Proposed Solution (Describe your Idea/Solution/Prototype)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Zero-Trust Mobile Inspection &amp; DBT Automation Platform: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An offline-first Progressive Web Application (PWA) paired with an executive BDO Maker-Checker dashboard that digitizes rural housing (PMAY-G) and Gram Panchayat development works with cryptographic integrity.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Grassroots to National Scale: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Empowers Panchayat field inspectors to capture tamper-evident construction milestones in zero-connectivity areas, auto-triggering direct PFMS DBT transfers upon dual-tier administrative approval.</a:t>
            </a:r>
          </a:p>
          <a:p>
            <a:pPr algn="l">
              <a:lnSpc>
                <a:spcPts val="2800"/>
              </a:lnSpc>
              <a:spcBfr>
                <a:spcPts val="1200"/>
              </a:spcBfr>
              <a:buNone/>
              <a:defRPr/>
            </a:pPr>
            <a:r>
              <a:rPr lang="en-US" sz="1900" b="1" u="sng">
                <a:solidFill>
                  <a:srgbClr val="1F497D"/>
                </a:solidFill>
                <a:latin typeface="Georgia"/>
                <a:cs typeface="Georgia"/>
              </a:rPr>
              <a:t>Detailed explanation of the proposed solution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4-Stage Sequential Housing Lifecycle Pipeline: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Strictly enforces progressive milestone verification: Foundation (₹40,000 release), Plinth (₹40,000 release), Lintel (₹30,000 release), and Completion (₹10,000 release) with baseline geofence locking.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Panchayat Infrastructure Module: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Tracks community assets (Anganwadis, CC Roads, Check Dams, Sanitation Complexes) under XV Finance Commission &amp; MGNREGS convergence.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Triple-Engine Deduplication &amp; Eligibility Verifier: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Cross-checks SECC-2011 13-point automatic exclusions (vehicles, mechanization, credit limit &gt;₹50k, govt employees), NFSA ration cards, and legacy IAY/PMAY benefit registers before approving payments.</a:t>
            </a:r>
          </a:p>
          <a:p>
            <a:pPr algn="l">
              <a:lnSpc>
                <a:spcPts val="2800"/>
              </a:lnSpc>
              <a:spcBfr>
                <a:spcPts val="1200"/>
              </a:spcBfr>
              <a:buNone/>
              <a:defRPr/>
            </a:pPr>
            <a:r>
              <a:rPr lang="en-US" sz="1900" b="1" u="sng">
                <a:solidFill>
                  <a:srgbClr val="1F497D"/>
                </a:solidFill>
                <a:latin typeface="Georgia"/>
                <a:cs typeface="Georgia"/>
              </a:rPr>
              <a:t>How it addresses the problem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Eliminates Verification &amp; Disbursement Bottlenecks: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Replaces slow paper registries and delayed physical inspections, cutting turnaround latency from 28+ days to under 48 hours.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Conquers Rural Connectivity Blackouts: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IndexedDB (Dexie.js) local database stores full inspections offline and opportunistically flushes via BackgroundSync once signal resumes.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Eliminates Ghost &amp; Duplicate Claims: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Real-time cross-database matching prevents double-dipping across central/state housing schemes, saving crores in public funds.</a:t>
            </a:r>
          </a:p>
          <a:p>
            <a:pPr algn="l">
              <a:lnSpc>
                <a:spcPts val="2800"/>
              </a:lnSpc>
              <a:spcBfr>
                <a:spcPts val="1200"/>
              </a:spcBfr>
              <a:buNone/>
              <a:defRPr/>
            </a:pPr>
            <a:r>
              <a:rPr lang="en-US" sz="1900" b="1" u="sng">
                <a:solidFill>
                  <a:srgbClr val="1F497D"/>
                </a:solidFill>
                <a:latin typeface="Georgia"/>
                <a:cs typeface="Georgia"/>
              </a:rPr>
              <a:t>Innovation and uniqueness of the solution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3D Haversine Geofencing (D_3D ≤ 15m):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Integrates barometric and GPS elevation deltas to prevent roadside or valley-floor spoofing in undulating terrain.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Hardware-Sealed WebCrypto ECDSA P-256 Signatures: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Digitally signs inspection coordinates, satellite timestamps, and photo SHA-256 hashes on-device before storage.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Optical Gyroscope Parallax Liveness Guard: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Verifies 3D wall depth during camera capture, blocking fraudulent inspections captured from laptop screens or paper photos.</a:t>
            </a:r>
          </a:p>
        </p:txBody>
      </p:sp>
      <p:sp>
        <p:nvSpPr>
          <p:cNvPr id="1674112464" name=""/>
          <p:cNvSpPr/>
          <p:nvPr/>
        </p:nvSpPr>
        <p:spPr bwMode="auto">
          <a:xfrm rot="0" flipH="0" flipV="0">
            <a:off x="526311" y="30479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188185711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773427" y="386189"/>
            <a:ext cx="1336233" cy="1380906"/>
          </a:xfrm>
          <a:prstGeom prst="rect">
            <a:avLst/>
          </a:prstGeom>
        </p:spPr>
      </p:pic>
      <p:sp>
        <p:nvSpPr>
          <p:cNvPr id="163021959" name=""/>
          <p:cNvSpPr/>
          <p:nvPr/>
        </p:nvSpPr>
        <p:spPr bwMode="auto">
          <a:xfrm rot="0" flipH="0" flipV="0">
            <a:off x="14691452" y="386189"/>
            <a:ext cx="3064451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30192753" name="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 flipH="0" flipV="0">
            <a:off x="14745670" y="467150"/>
            <a:ext cx="3010232" cy="1290636"/>
          </a:xfrm>
          <a:prstGeom prst="rect">
            <a:avLst/>
          </a:prstGeom>
        </p:spPr>
      </p:pic>
      <p:sp>
        <p:nvSpPr>
          <p:cNvPr id="529283740" name=""/>
          <p:cNvSpPr/>
          <p:nvPr/>
        </p:nvSpPr>
        <p:spPr bwMode="auto">
          <a:xfrm rot="0" flipH="0" flipV="0">
            <a:off x="8418318" y="38618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515437131" name=""/>
          <p:cNvPicPr>
            <a:picLocks noChangeAspect="1"/>
          </p:cNvPicPr>
          <p:nvPr/>
        </p:nvPicPr>
        <p:blipFill rotWithShape="1">
          <a:blip r:embed="rId11"/>
          <a:srcRect l="26871" t="33796" r="25073" b="35879"/>
          <a:stretch/>
        </p:blipFill>
        <p:spPr bwMode="auto">
          <a:xfrm flipH="0" flipV="0">
            <a:off x="8530999" y="516764"/>
            <a:ext cx="1584388" cy="1250330"/>
          </a:xfrm>
          <a:prstGeom prst="rect">
            <a:avLst/>
          </a:prstGeom>
        </p:spPr>
      </p:pic>
    </p:spTree>
  </p:cSld>
  <p:clrMapOvr>
    <a:masterClrMapping/>
  </p:clrMapOvr>
  <ns3:AlternateContent>
    <ns3:Choice Requires="p159">
      <p:transition ns4:dur="500" advClick="1"/>
    </ns3:Choice>
    <ns3:Fallback>
      <p:transition advClick="1"/>
    </ns3:Fallback>
  </ns3:AlternateContent>
</p:sld>
</file>

<file path=ppt/slides/slide3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390993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9259" r="0" b="-9259"/>
            </a:stretch>
          </a:blipFill>
        </p:spPr>
      </p:sp>
      <p:sp>
        <p:nvSpPr>
          <p:cNvPr id="1635655700" name="Freeform 3"/>
          <p:cNvSpPr/>
          <p:nvPr/>
        </p:nvSpPr>
        <p:spPr bwMode="auto">
          <a:xfrm rot="0" flipH="1" flipV="0">
            <a:off x="0" y="0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1988771879" name="Freeform 4"/>
          <p:cNvSpPr/>
          <p:nvPr/>
        </p:nvSpPr>
        <p:spPr bwMode="auto">
          <a:xfrm rot="0" flipH="0" flipV="0">
            <a:off x="16671206" y="25864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0" y="0"/>
                </a:moveTo>
                <a:lnTo>
                  <a:pt x="1615477" y="0"/>
                </a:lnTo>
                <a:lnTo>
                  <a:pt x="1615477" y="2005672"/>
                </a:lnTo>
                <a:lnTo>
                  <a:pt x="0" y="2005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809165144" name="Freeform 5"/>
          <p:cNvSpPr/>
          <p:nvPr/>
        </p:nvSpPr>
        <p:spPr bwMode="auto">
          <a:xfrm rot="0" flipH="0" flipV="0">
            <a:off x="0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 fill="norm" stroke="1" extrusionOk="0">
                <a:moveTo>
                  <a:pt x="0" y="0"/>
                </a:moveTo>
                <a:lnTo>
                  <a:pt x="2464243" y="0"/>
                </a:lnTo>
                <a:lnTo>
                  <a:pt x="2464243" y="2464243"/>
                </a:lnTo>
                <a:lnTo>
                  <a:pt x="0" y="24642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1068137768" name="Freeform 6"/>
          <p:cNvSpPr/>
          <p:nvPr/>
        </p:nvSpPr>
        <p:spPr bwMode="auto">
          <a:xfrm rot="0" flipH="1" flipV="0">
            <a:off x="15823757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 fill="norm" stroke="1" extrusionOk="0">
                <a:moveTo>
                  <a:pt x="2464243" y="0"/>
                </a:moveTo>
                <a:lnTo>
                  <a:pt x="0" y="0"/>
                </a:lnTo>
                <a:lnTo>
                  <a:pt x="0" y="2464243"/>
                </a:lnTo>
                <a:lnTo>
                  <a:pt x="2464243" y="2464243"/>
                </a:lnTo>
                <a:lnTo>
                  <a:pt x="2464243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grpSp>
        <p:nvGrpSpPr>
          <p:cNvPr id="523938700" name="Group 7"/>
          <p:cNvGrpSpPr/>
          <p:nvPr/>
        </p:nvGrpSpPr>
        <p:grpSpPr bwMode="auto">
          <a:xfrm rot="0">
            <a:off x="1232122" y="1834285"/>
            <a:ext cx="16459200" cy="1714500"/>
            <a:chOff x="0" y="0"/>
            <a:chExt cx="21945600" cy="22860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28575"/>
              <a:ext cx="21945600" cy="2314575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5200"/>
                </a:lnSpc>
                <a:buNone/>
                <a:defRPr/>
              </a:pPr>
              <a:r>
                <a:rPr lang="en-US" sz="4200" b="1" u="none">
                  <a:solidFill>
                    <a:srgbClr val="1F497D"/>
                  </a:solidFill>
                  <a:latin typeface="Georgia"/>
                  <a:cs typeface="Georgia"/>
                </a:rPr>
                <a:t>TECHNICAL APPROACH: High-Integrity Architecture &amp; DBT Pipeline</a:t>
              </a:r>
            </a:p>
          </p:txBody>
        </p:sp>
      </p:grpSp>
      <p:sp>
        <p:nvSpPr>
          <p:cNvPr id="1571476701" name="TextBox 10"/>
          <p:cNvSpPr txBox="1"/>
          <p:nvPr/>
        </p:nvSpPr>
        <p:spPr bwMode="auto">
          <a:xfrm rot="0">
            <a:off x="926799" y="3500000"/>
            <a:ext cx="16500000" cy="63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fr>
                <a:spcPts val="600"/>
              </a:spcBfr>
              <a:buNone/>
              <a:defRPr/>
            </a:pPr>
            <a:r>
              <a:rPr lang="en-US" sz="1900" b="1" u="sng">
                <a:solidFill>
                  <a:srgbClr val="1F497D"/>
                </a:solidFill>
                <a:latin typeface="Georgia"/>
                <a:cs typeface="Georgia"/>
              </a:rPr>
              <a:t>Technologies to be used (e.g. programming languages, frameworks, hardware)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Client Frontend &amp; PWA: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Next.js 14 App Router, TypeScript, React 18, Tailwind CSS, Lucide Icons, Framer Motion (60 FPS responsive mobile UI).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Offline Storage &amp; Sync Engine: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IndexedDB wrapped with Dexie.js v4, Service Worker Cache-First architecture, Background Sync API with exponential backoff.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Spatial Intelligence &amp; GIS Mapping: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Leaflet.js, OpenStreetMap offline tile engine, Bhu-Naksha cadastral revenue maps, CEP-50 Kalman spatial filter.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Cryptographic Security &amp; Verification: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WebCrypto API (ECDSA P-256 asymmetric signing, SHA-256 evidence hashing, AES-GCM-256 local encryption at rest).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GovTech &amp; Financial Rails: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Node.js microservices, PFMS (Public Financial Management System) XML FTO batch generator, NPCI APBS (Aadhaar Payment Bridge).</a:t>
            </a:r>
          </a:p>
          <a:p>
            <a:pPr algn="l">
              <a:lnSpc>
                <a:spcPts val="2800"/>
              </a:lnSpc>
              <a:spcBfr>
                <a:spcPts val="1200"/>
              </a:spcBfr>
              <a:buNone/>
              <a:defRPr/>
            </a:pPr>
            <a:r>
              <a:rPr lang="en-US" sz="1900" b="1" u="sng">
                <a:solidFill>
                  <a:srgbClr val="1F497D"/>
                </a:solidFill>
                <a:latin typeface="Georgia"/>
                <a:cs typeface="Georgia"/>
              </a:rPr>
              <a:t>Methodology and process for implementation (Flow Charts/Images/ working prototype)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Step 1 (Offline Field Capture):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Inspector loads assigned village cache. Live camera capture enforces 3D geofencing (D ≤ 15m) and optical parallax liveness test.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Step 2 (Edge Sealing &amp; Compression):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Client signs telemetry with ECDSA P-256 private key, stamps GPS satellite timestamp, compresses to 1080p WebP, and queues in IndexedDB.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Step 3 (Dual-Tier Resilient Sync):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Tier-1: 2KB JSON metadata flushes over 2G/EDGE immediately. Tier-2: 200KB WebP images upload opportunistically on 4G/Wi-Fi.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Step 4 (Automated Deduplication Engine):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System executes real-time cross-checks against SECC 2011 exclusions, NFSA ration cards, and legacy IAY benefit registers.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Step 5 (3-Tier Maker-Checker Approval):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Junior Engineer (JE) verifies structural integrity; Block Development Officer (BDO) validates and signs with Class-3 Digital Signature.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Step 6 (Direct Benefit Transfer Release):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1-Click PFMS XML FTO batch generation initiates automated treasury disbursement directly into beneficiary's Aadhaar-seeded bank account.</a:t>
            </a:r>
          </a:p>
        </p:txBody>
      </p:sp>
      <p:sp>
        <p:nvSpPr>
          <p:cNvPr id="1041704754" name=""/>
          <p:cNvSpPr/>
          <p:nvPr/>
        </p:nvSpPr>
        <p:spPr bwMode="auto">
          <a:xfrm rot="0" flipH="0" flipV="0">
            <a:off x="526311" y="30479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82650659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773427" y="386189"/>
            <a:ext cx="1336233" cy="1380906"/>
          </a:xfrm>
          <a:prstGeom prst="rect">
            <a:avLst/>
          </a:prstGeom>
        </p:spPr>
      </p:pic>
      <p:sp>
        <p:nvSpPr>
          <p:cNvPr id="605740483" name=""/>
          <p:cNvSpPr/>
          <p:nvPr/>
        </p:nvSpPr>
        <p:spPr bwMode="auto">
          <a:xfrm rot="0" flipH="0" flipV="0">
            <a:off x="14691452" y="386189"/>
            <a:ext cx="3064451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511915464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14745670" y="467150"/>
            <a:ext cx="3010232" cy="1290636"/>
          </a:xfrm>
          <a:prstGeom prst="rect">
            <a:avLst/>
          </a:prstGeom>
        </p:spPr>
      </p:pic>
      <p:sp>
        <p:nvSpPr>
          <p:cNvPr id="673946822" name=""/>
          <p:cNvSpPr/>
          <p:nvPr/>
        </p:nvSpPr>
        <p:spPr bwMode="auto">
          <a:xfrm rot="0" flipH="0" flipV="0">
            <a:off x="8418318" y="38618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638832417" name=""/>
          <p:cNvPicPr>
            <a:picLocks noChangeAspect="1"/>
          </p:cNvPicPr>
          <p:nvPr/>
        </p:nvPicPr>
        <p:blipFill rotWithShape="1">
          <a:blip r:embed="rId10"/>
          <a:srcRect l="26871" t="33796" r="25073" b="35879"/>
          <a:stretch/>
        </p:blipFill>
        <p:spPr bwMode="auto">
          <a:xfrm flipH="0" flipV="0">
            <a:off x="8530999" y="516764"/>
            <a:ext cx="1584388" cy="1250330"/>
          </a:xfrm>
          <a:prstGeom prst="rect">
            <a:avLst/>
          </a:prstGeom>
        </p:spPr>
      </p:pic>
    </p:spTree>
  </p:cSld>
  <p:clrMapOvr>
    <a:masterClrMapping/>
  </p:clrMapOvr>
  <ns3:AlternateContent>
    <ns3:Choice Requires="p159">
      <p:transition ns4:dur="500" advClick="1"/>
    </ns3:Choice>
    <ns3:Fallback>
      <p:transition advClick="1"/>
    </ns3:Fallback>
  </ns3:AlternateContent>
</p:sld>
</file>

<file path=ppt/slides/slide4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215653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9259" r="0" b="-9259"/>
            </a:stretch>
          </a:blipFill>
        </p:spPr>
      </p:sp>
      <p:sp>
        <p:nvSpPr>
          <p:cNvPr id="1259602068" name="Freeform 3"/>
          <p:cNvSpPr/>
          <p:nvPr/>
        </p:nvSpPr>
        <p:spPr bwMode="auto">
          <a:xfrm rot="0" flipH="1" flipV="0">
            <a:off x="0" y="0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590217133" name="Freeform 4"/>
          <p:cNvSpPr/>
          <p:nvPr/>
        </p:nvSpPr>
        <p:spPr bwMode="auto">
          <a:xfrm rot="0" flipH="0" flipV="0">
            <a:off x="16671206" y="25864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0" y="0"/>
                </a:moveTo>
                <a:lnTo>
                  <a:pt x="1615477" y="0"/>
                </a:lnTo>
                <a:lnTo>
                  <a:pt x="1615477" y="2005672"/>
                </a:lnTo>
                <a:lnTo>
                  <a:pt x="0" y="2005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1858135397" name="Freeform 5"/>
          <p:cNvSpPr/>
          <p:nvPr/>
        </p:nvSpPr>
        <p:spPr bwMode="auto">
          <a:xfrm rot="0" flipH="0" flipV="0">
            <a:off x="0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 fill="norm" stroke="1" extrusionOk="0">
                <a:moveTo>
                  <a:pt x="0" y="0"/>
                </a:moveTo>
                <a:lnTo>
                  <a:pt x="2464243" y="0"/>
                </a:lnTo>
                <a:lnTo>
                  <a:pt x="2464243" y="2464243"/>
                </a:lnTo>
                <a:lnTo>
                  <a:pt x="0" y="24642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345971646" name="Freeform 6"/>
          <p:cNvSpPr/>
          <p:nvPr/>
        </p:nvSpPr>
        <p:spPr bwMode="auto">
          <a:xfrm rot="0" flipH="1" flipV="0">
            <a:off x="15823757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 fill="norm" stroke="1" extrusionOk="0">
                <a:moveTo>
                  <a:pt x="2464243" y="0"/>
                </a:moveTo>
                <a:lnTo>
                  <a:pt x="0" y="0"/>
                </a:lnTo>
                <a:lnTo>
                  <a:pt x="0" y="2464243"/>
                </a:lnTo>
                <a:lnTo>
                  <a:pt x="2464243" y="2464243"/>
                </a:lnTo>
                <a:lnTo>
                  <a:pt x="2464243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grpSp>
        <p:nvGrpSpPr>
          <p:cNvPr id="271200212" name="Group 15"/>
          <p:cNvGrpSpPr/>
          <p:nvPr/>
        </p:nvGrpSpPr>
        <p:grpSpPr bwMode="auto">
          <a:xfrm rot="0">
            <a:off x="914400" y="1801436"/>
            <a:ext cx="16459200" cy="1714500"/>
            <a:chOff x="0" y="0"/>
            <a:chExt cx="21945600" cy="2286000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21945600" cy="2314575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5200"/>
                </a:lnSpc>
                <a:buNone/>
                <a:defRPr/>
              </a:pPr>
              <a:r>
                <a:rPr lang="en-US" sz="4200" b="1" u="none">
                  <a:solidFill>
                    <a:srgbClr val="1F497D"/>
                  </a:solidFill>
                  <a:latin typeface="Georgia"/>
                  <a:cs typeface="Georgia"/>
                </a:rPr>
                <a:t>FEASIBILITY &amp; VIABILITY: Operational Scalability &amp; Risk Mitigation</a:t>
              </a:r>
            </a:p>
          </p:txBody>
        </p:sp>
      </p:grpSp>
      <p:sp>
        <p:nvSpPr>
          <p:cNvPr id="1759578833" name="TextBox 18"/>
          <p:cNvSpPr txBox="1"/>
          <p:nvPr/>
        </p:nvSpPr>
        <p:spPr bwMode="auto">
          <a:xfrm rot="0">
            <a:off x="927879" y="3500000"/>
            <a:ext cx="16500000" cy="63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fr>
                <a:spcPts val="600"/>
              </a:spcBfr>
              <a:buNone/>
              <a:defRPr/>
            </a:pPr>
            <a:r>
              <a:rPr lang="en-US" sz="1900" b="1" u="sng">
                <a:solidFill>
                  <a:srgbClr val="1F497D"/>
                </a:solidFill>
                <a:latin typeface="Georgia"/>
                <a:cs typeface="Georgia"/>
              </a:rPr>
              <a:t>Analysis of the feasibility of the idea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Technical Feasibility (Proven Working Prototype):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Fully functional Next.js 14 PWA with Dexie.js and Leaflet already built, tested, and running locally. Zero proprietary hardware required; works on any Android 8.0+ smartphone via browser.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Operational Feasibility (Zero Administrative Friction):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Directly aligns with existing 3-tier Panchayati Raj &amp; MoRD administrative structures (Panchayat Secretary → Junior Engineer → BDO → District Collector). No retraining overhead.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Financial &amp; Economic Viability (Ultra Low Unit Cost):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100% open-source software stack eliminating expensive per-seat GIS or proprietary database licenses. Unit operating cost &lt; ₹15 per beneficiary verification.</a:t>
            </a:r>
          </a:p>
          <a:p>
            <a:pPr algn="l">
              <a:lnSpc>
                <a:spcPts val="2800"/>
              </a:lnSpc>
              <a:spcBfr>
                <a:spcPts val="1200"/>
              </a:spcBfr>
              <a:buNone/>
              <a:defRPr/>
            </a:pPr>
            <a:r>
              <a:rPr lang="en-US" sz="1900" b="1" u="sng">
                <a:solidFill>
                  <a:srgbClr val="1F497D"/>
                </a:solidFill>
                <a:latin typeface="Georgia"/>
                <a:cs typeface="Georgia"/>
              </a:rPr>
              <a:t>Potential challenges and risks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Challenge 1: Deep Rural Network Blackouts: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40%+ of rural tribal hamlets lack consistent 4G/5G, leading to stalled sync, orphaned records, and inspector frustration.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Challenge 2: GPS Multipath Drift, Canopy &amp; Spoofing: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Dense tree cover, hills, and mock-location apps report inaccurate coordinates or deliberately falsified locations.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Challenge 3: Low-End Field Hardware &amp; Harsh Sunlight Glare: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Sub-₹8,000 low-end smartphones, cracked screens, and illegible mobile displays under 42°C direct summer sunlight.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Challenge 4: Device Clock Rollback &amp; Audit Manipulation: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Fraudulent users rewinding device system clocks to fake timely milestone inspections or bypass deadlines.</a:t>
            </a:r>
          </a:p>
          <a:p>
            <a:pPr algn="l">
              <a:lnSpc>
                <a:spcPts val="2800"/>
              </a:lnSpc>
              <a:spcBfr>
                <a:spcPts val="1200"/>
              </a:spcBfr>
              <a:buNone/>
              <a:defRPr/>
            </a:pPr>
            <a:r>
              <a:rPr lang="en-US" sz="1900" b="1" u="sng">
                <a:solidFill>
                  <a:srgbClr val="1F497D"/>
                </a:solidFill>
                <a:latin typeface="Georgia"/>
                <a:cs typeface="Georgia"/>
              </a:rPr>
              <a:t>Strategies for overcoming these challenges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Strategy 1 (Dual-Tier Chunked Sync &amp; Offline Dexie Engine):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Stores up to 500 inspections locally; priority queue transmits lightweight 2KB verification payloads over 2G/EDGE networks; deferred media syncs when high bandwidth returns.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Strategy 2 (CEP-50 Kalman Spatial Filter &amp; Bhu-Naksha Maps):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Averages 10 consecutive satellite fixes, checks isMockLocation flag, and cross-validates against cadastral revenue survey plot polygons.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Strategy 3 (High-Contrast Outdoor Sunlight UI &amp; Vernacular Icons):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WCAG AAA high-contrast dark/amber outdoor theme, large 48px touch targets, minimal English dependency with icon-driven visual workflows.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Strategy 4 (Monotonic Hardware Clock + GPS Epoch Reconciliation):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Compares device timestamp against raw GPS satellite NMEA epoch; flags records with &gt;180s drift for mandatory physical audit.</a:t>
            </a:r>
          </a:p>
        </p:txBody>
      </p:sp>
      <p:sp>
        <p:nvSpPr>
          <p:cNvPr id="994417430" name=""/>
          <p:cNvSpPr/>
          <p:nvPr/>
        </p:nvSpPr>
        <p:spPr bwMode="auto">
          <a:xfrm rot="0" flipH="0" flipV="0">
            <a:off x="526311" y="30479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423437875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773427" y="386189"/>
            <a:ext cx="1336233" cy="1380906"/>
          </a:xfrm>
          <a:prstGeom prst="rect">
            <a:avLst/>
          </a:prstGeom>
        </p:spPr>
      </p:pic>
      <p:sp>
        <p:nvSpPr>
          <p:cNvPr id="988008241" name=""/>
          <p:cNvSpPr/>
          <p:nvPr/>
        </p:nvSpPr>
        <p:spPr bwMode="auto">
          <a:xfrm rot="0" flipH="0" flipV="0">
            <a:off x="14691452" y="386189"/>
            <a:ext cx="3064451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597478162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14745670" y="467150"/>
            <a:ext cx="3010232" cy="1290636"/>
          </a:xfrm>
          <a:prstGeom prst="rect">
            <a:avLst/>
          </a:prstGeom>
        </p:spPr>
      </p:pic>
      <p:sp>
        <p:nvSpPr>
          <p:cNvPr id="1437482515" name=""/>
          <p:cNvSpPr/>
          <p:nvPr/>
        </p:nvSpPr>
        <p:spPr bwMode="auto">
          <a:xfrm rot="0" flipH="0" flipV="0">
            <a:off x="8418318" y="38618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20343969" name=""/>
          <p:cNvPicPr>
            <a:picLocks noChangeAspect="1"/>
          </p:cNvPicPr>
          <p:nvPr/>
        </p:nvPicPr>
        <p:blipFill rotWithShape="1">
          <a:blip r:embed="rId9"/>
          <a:srcRect l="26871" t="33796" r="25073" b="35879"/>
          <a:stretch/>
        </p:blipFill>
        <p:spPr bwMode="auto">
          <a:xfrm flipH="0" flipV="0">
            <a:off x="8530999" y="516764"/>
            <a:ext cx="1584388" cy="1250330"/>
          </a:xfrm>
          <a:prstGeom prst="rect">
            <a:avLst/>
          </a:prstGeom>
        </p:spPr>
      </p:pic>
    </p:spTree>
  </p:cSld>
  <p:clrMapOvr>
    <a:masterClrMapping/>
  </p:clrMapOvr>
  <ns3:AlternateContent>
    <ns3:Choice Requires="p159">
      <p:transition ns4:dur="500" advClick="1"/>
    </ns3:Choice>
    <ns3:Fallback>
      <p:transition advClick="1"/>
    </ns3:Fallback>
  </ns3:AlternateContent>
</p:sld>
</file>

<file path=ppt/slides/slide5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0949357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9259" r="0" b="-9259"/>
            </a:stretch>
          </a:blipFill>
        </p:spPr>
      </p:sp>
      <p:sp>
        <p:nvSpPr>
          <p:cNvPr id="215564946" name="Freeform 3"/>
          <p:cNvSpPr/>
          <p:nvPr/>
        </p:nvSpPr>
        <p:spPr bwMode="auto">
          <a:xfrm rot="-5400000" flipH="0" flipV="0">
            <a:off x="14858865" y="6857865"/>
            <a:ext cx="2924955" cy="3933314"/>
          </a:xfrm>
          <a:custGeom>
            <a:avLst/>
            <a:gdLst/>
            <a:ahLst/>
            <a:cxnLst/>
            <a:rect l="l" t="t" r="r" b="b"/>
            <a:pathLst>
              <a:path w="2924955" h="3933314" fill="norm" stroke="1" extrusionOk="0">
                <a:moveTo>
                  <a:pt x="0" y="0"/>
                </a:moveTo>
                <a:lnTo>
                  <a:pt x="2924956" y="0"/>
                </a:lnTo>
                <a:lnTo>
                  <a:pt x="2924956" y="3933314"/>
                </a:lnTo>
                <a:lnTo>
                  <a:pt x="0" y="393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1650915175" name="Freeform 4"/>
          <p:cNvSpPr/>
          <p:nvPr/>
        </p:nvSpPr>
        <p:spPr bwMode="auto">
          <a:xfrm rot="0" flipH="1" flipV="0">
            <a:off x="0" y="0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1511337784" name="Freeform 5"/>
          <p:cNvSpPr/>
          <p:nvPr/>
        </p:nvSpPr>
        <p:spPr bwMode="auto">
          <a:xfrm rot="-10800000" flipH="0" flipV="1">
            <a:off x="-194432" y="8824522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 fill="norm" stroke="1" extrusionOk="0">
                <a:moveTo>
                  <a:pt x="0" y="2406235"/>
                </a:moveTo>
                <a:lnTo>
                  <a:pt x="2446264" y="2406235"/>
                </a:lnTo>
                <a:lnTo>
                  <a:pt x="2446264" y="0"/>
                </a:lnTo>
                <a:lnTo>
                  <a:pt x="0" y="0"/>
                </a:lnTo>
                <a:lnTo>
                  <a:pt x="0" y="2406235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1646749565" name="Freeform 6"/>
          <p:cNvSpPr/>
          <p:nvPr/>
        </p:nvSpPr>
        <p:spPr bwMode="auto">
          <a:xfrm rot="0" flipH="0" flipV="0">
            <a:off x="16121194" y="7269473"/>
            <a:ext cx="1334515" cy="1555049"/>
          </a:xfrm>
          <a:custGeom>
            <a:avLst/>
            <a:gdLst/>
            <a:ahLst/>
            <a:cxnLst/>
            <a:rect l="l" t="t" r="r" b="b"/>
            <a:pathLst>
              <a:path w="1334515" h="1555049" fill="norm" stroke="1" extrusionOk="0">
                <a:moveTo>
                  <a:pt x="0" y="0"/>
                </a:moveTo>
                <a:lnTo>
                  <a:pt x="1334515" y="0"/>
                </a:lnTo>
                <a:lnTo>
                  <a:pt x="1334515" y="1555049"/>
                </a:lnTo>
                <a:lnTo>
                  <a:pt x="0" y="1555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</p:sp>
      <p:sp>
        <p:nvSpPr>
          <p:cNvPr id="1825210612" name="Freeform 7"/>
          <p:cNvSpPr/>
          <p:nvPr/>
        </p:nvSpPr>
        <p:spPr bwMode="auto">
          <a:xfrm rot="-10800000" flipH="0" flipV="0">
            <a:off x="16121194" y="-906849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 fill="norm" stroke="1" extrusionOk="0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grpSp>
        <p:nvGrpSpPr>
          <p:cNvPr id="1931352244" name="Group 16"/>
          <p:cNvGrpSpPr/>
          <p:nvPr/>
        </p:nvGrpSpPr>
        <p:grpSpPr bwMode="auto">
          <a:xfrm rot="0">
            <a:off x="996509" y="1801436"/>
            <a:ext cx="16459200" cy="1714500"/>
            <a:chOff x="0" y="0"/>
            <a:chExt cx="21945600" cy="2286000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21945600" cy="2314575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5200"/>
                </a:lnSpc>
                <a:buNone/>
                <a:defRPr/>
              </a:pPr>
              <a:r>
                <a:rPr lang="en-US" sz="4200" b="1" u="none">
                  <a:solidFill>
                    <a:srgbClr val="1F497D"/>
                  </a:solidFill>
                  <a:latin typeface="Georgia"/>
                  <a:cs typeface="Georgia"/>
                </a:rPr>
                <a:t>IMPACT &amp; BENEFITS: Socio-Economic Transformation &amp; Zero-Leakage DBT</a:t>
              </a:r>
            </a:p>
          </p:txBody>
        </p:sp>
      </p:grpSp>
      <p:sp>
        <p:nvSpPr>
          <p:cNvPr id="1262345273" name="TextBox 19"/>
          <p:cNvSpPr txBox="1"/>
          <p:nvPr/>
        </p:nvSpPr>
        <p:spPr bwMode="auto">
          <a:xfrm rot="0">
            <a:off x="927878" y="3500000"/>
            <a:ext cx="16500000" cy="63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fr>
                <a:spcPts val="600"/>
              </a:spcBfr>
              <a:buNone/>
              <a:defRPr/>
            </a:pPr>
            <a:r>
              <a:rPr lang="en-US" sz="1900" b="1" u="sng">
                <a:solidFill>
                  <a:srgbClr val="1F497D"/>
                </a:solidFill>
                <a:latin typeface="Georgia"/>
                <a:cs typeface="Georgia"/>
              </a:rPr>
              <a:t>Potential impact on the target audience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Rural Beneficiaries (PMAY-G Families):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DBT instalment turnaround slashed from 28+ days to under 48 hours. Eliminates the need to travel 30km to the Block office or take exploitative 36% loans from moneylenders. Prevents wall damage before monsoons.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Field Inspectors &amp; Panchayat Secretaries: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100% paperless workflow saving 14+ hours per week in manual paperwork and register maintenance. Cryptographic audit trails protect honest officials against false corruption allegations.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BDOs, District Collectors &amp; MoRD Leadership: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Real-time GIS heatmaps of housing bottlenecks across thousands of Gram Panchayats. 1-click batch XML export for PFMS direct bank credit with zero audit discrepancies.</a:t>
            </a:r>
          </a:p>
          <a:p>
            <a:pPr algn="l">
              <a:lnSpc>
                <a:spcPts val="2800"/>
              </a:lnSpc>
              <a:spcBfr>
                <a:spcPts val="1200"/>
              </a:spcBfr>
              <a:buNone/>
              <a:defRPr/>
            </a:pPr>
            <a:r>
              <a:rPr lang="en-US" sz="1900" b="1" u="sng">
                <a:solidFill>
                  <a:srgbClr val="1F497D"/>
                </a:solidFill>
                <a:latin typeface="Georgia"/>
                <a:cs typeface="Georgia"/>
              </a:rPr>
              <a:t>Benefits of the solution (social, economic, environmental, etc.)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Economic Benefits (Zero Leakage &amp; Fiscal Savings):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100% elimination of duplicate disbursements and ineligible ghost beneficiaries—saving estimated ₹1,200+ Crores annually in national welfare leakages. 85% reduction in administrative verification overhead.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Social Benefits (Equity &amp; Women Empowerment):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Ensures transparent welfare delivery to vulnerable SC/ST/BPL communities with zero intermediary rent-seeking. Enforces women empowerment through mandatory joint title deed verification on-site.</a:t>
            </a:r>
          </a:p>
          <a:p>
            <a:pPr algn="l" lvl="1" marL="648000" indent="-216000">
              <a:lnSpc>
                <a:spcPts val="2300"/>
              </a:lnSpc>
              <a:spcBfr>
                <a:spcPts val="4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Environmental &amp; Climate Resilience Benefits: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Accelerates completion of disaster-resilient pacca houses before flooding and monsoon seasons. Parallel Panchayat monitoring tracks climate-resilient check dams and water harvesting. 100% paperless.</a:t>
            </a:r>
          </a:p>
        </p:txBody>
      </p:sp>
      <p:sp>
        <p:nvSpPr>
          <p:cNvPr id="952100485" name=""/>
          <p:cNvSpPr/>
          <p:nvPr/>
        </p:nvSpPr>
        <p:spPr bwMode="auto">
          <a:xfrm rot="0" flipH="0" flipV="0">
            <a:off x="526311" y="30479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284943819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773427" y="386189"/>
            <a:ext cx="1336233" cy="1380906"/>
          </a:xfrm>
          <a:prstGeom prst="rect">
            <a:avLst/>
          </a:prstGeom>
        </p:spPr>
      </p:pic>
      <p:sp>
        <p:nvSpPr>
          <p:cNvPr id="1843656528" name=""/>
          <p:cNvSpPr/>
          <p:nvPr/>
        </p:nvSpPr>
        <p:spPr bwMode="auto">
          <a:xfrm rot="0" flipH="0" flipV="0">
            <a:off x="14691452" y="386189"/>
            <a:ext cx="3064451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415685000" name="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 flipH="0" flipV="0">
            <a:off x="14745670" y="467150"/>
            <a:ext cx="3010232" cy="1290636"/>
          </a:xfrm>
          <a:prstGeom prst="rect">
            <a:avLst/>
          </a:prstGeom>
        </p:spPr>
      </p:pic>
      <p:sp>
        <p:nvSpPr>
          <p:cNvPr id="1042816745" name=""/>
          <p:cNvSpPr/>
          <p:nvPr/>
        </p:nvSpPr>
        <p:spPr bwMode="auto">
          <a:xfrm rot="0" flipH="0" flipV="0">
            <a:off x="8418318" y="38618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417170243" name=""/>
          <p:cNvPicPr>
            <a:picLocks noChangeAspect="1"/>
          </p:cNvPicPr>
          <p:nvPr/>
        </p:nvPicPr>
        <p:blipFill rotWithShape="1">
          <a:blip r:embed="rId11"/>
          <a:srcRect l="26871" t="33796" r="25073" b="35879"/>
          <a:stretch/>
        </p:blipFill>
        <p:spPr bwMode="auto">
          <a:xfrm flipH="0" flipV="0">
            <a:off x="8530999" y="516764"/>
            <a:ext cx="1584388" cy="1250330"/>
          </a:xfrm>
          <a:prstGeom prst="rect">
            <a:avLst/>
          </a:prstGeom>
        </p:spPr>
      </p:pic>
    </p:spTree>
  </p:cSld>
  <p:clrMapOvr>
    <a:masterClrMapping/>
  </p:clrMapOvr>
  <ns3:AlternateContent>
    <ns3:Choice Requires="p159">
      <p:transition ns4:dur="500" advClick="1"/>
    </ns3:Choice>
    <ns3:Fallback>
      <p:transition advClick="1"/>
    </ns3:Fallback>
  </ns3:AlternateContent>
</p:sld>
</file>

<file path=ppt/slides/slide6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015881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9259" r="0" b="-9259"/>
            </a:stretch>
          </a:blipFill>
        </p:spPr>
      </p:sp>
      <p:sp>
        <p:nvSpPr>
          <p:cNvPr id="1398354276" name="Freeform 3"/>
          <p:cNvSpPr/>
          <p:nvPr/>
        </p:nvSpPr>
        <p:spPr bwMode="auto">
          <a:xfrm rot="-5400000" flipH="0" flipV="0">
            <a:off x="14858865" y="6857865"/>
            <a:ext cx="2924955" cy="3933314"/>
          </a:xfrm>
          <a:custGeom>
            <a:avLst/>
            <a:gdLst/>
            <a:ahLst/>
            <a:cxnLst/>
            <a:rect l="l" t="t" r="r" b="b"/>
            <a:pathLst>
              <a:path w="2924955" h="3933314" fill="norm" stroke="1" extrusionOk="0">
                <a:moveTo>
                  <a:pt x="0" y="0"/>
                </a:moveTo>
                <a:lnTo>
                  <a:pt x="2924956" y="0"/>
                </a:lnTo>
                <a:lnTo>
                  <a:pt x="2924956" y="3933314"/>
                </a:lnTo>
                <a:lnTo>
                  <a:pt x="0" y="393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945153007" name="Freeform 4"/>
          <p:cNvSpPr/>
          <p:nvPr/>
        </p:nvSpPr>
        <p:spPr bwMode="auto">
          <a:xfrm rot="0" flipH="1" flipV="0">
            <a:off x="0" y="0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593042225" name="Freeform 5"/>
          <p:cNvSpPr/>
          <p:nvPr/>
        </p:nvSpPr>
        <p:spPr bwMode="auto">
          <a:xfrm rot="-10800000" flipH="0" flipV="1">
            <a:off x="-194432" y="8824522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 fill="norm" stroke="1" extrusionOk="0">
                <a:moveTo>
                  <a:pt x="0" y="2406235"/>
                </a:moveTo>
                <a:lnTo>
                  <a:pt x="2446264" y="2406235"/>
                </a:lnTo>
                <a:lnTo>
                  <a:pt x="2446264" y="0"/>
                </a:lnTo>
                <a:lnTo>
                  <a:pt x="0" y="0"/>
                </a:lnTo>
                <a:lnTo>
                  <a:pt x="0" y="2406235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1489686045" name="Freeform 6"/>
          <p:cNvSpPr/>
          <p:nvPr/>
        </p:nvSpPr>
        <p:spPr bwMode="auto">
          <a:xfrm rot="0" flipH="0" flipV="0">
            <a:off x="16121194" y="7269473"/>
            <a:ext cx="1334515" cy="1555049"/>
          </a:xfrm>
          <a:custGeom>
            <a:avLst/>
            <a:gdLst/>
            <a:ahLst/>
            <a:cxnLst/>
            <a:rect l="l" t="t" r="r" b="b"/>
            <a:pathLst>
              <a:path w="1334515" h="1555049" fill="norm" stroke="1" extrusionOk="0">
                <a:moveTo>
                  <a:pt x="0" y="0"/>
                </a:moveTo>
                <a:lnTo>
                  <a:pt x="1334515" y="0"/>
                </a:lnTo>
                <a:lnTo>
                  <a:pt x="1334515" y="1555049"/>
                </a:lnTo>
                <a:lnTo>
                  <a:pt x="0" y="1555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</p:sp>
      <p:sp>
        <p:nvSpPr>
          <p:cNvPr id="777344499" name="Freeform 7"/>
          <p:cNvSpPr/>
          <p:nvPr/>
        </p:nvSpPr>
        <p:spPr bwMode="auto">
          <a:xfrm rot="-10800000" flipH="0" flipV="0">
            <a:off x="16121194" y="-906849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 fill="norm" stroke="1" extrusionOk="0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grpSp>
        <p:nvGrpSpPr>
          <p:cNvPr id="302205153" name="Group 16"/>
          <p:cNvGrpSpPr/>
          <p:nvPr/>
        </p:nvGrpSpPr>
        <p:grpSpPr bwMode="auto">
          <a:xfrm rot="0">
            <a:off x="914400" y="2005670"/>
            <a:ext cx="16459200" cy="1714500"/>
            <a:chOff x="0" y="0"/>
            <a:chExt cx="21945600" cy="2286000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21945600" cy="2314575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5200"/>
                </a:lnSpc>
                <a:buNone/>
                <a:defRPr/>
              </a:pPr>
              <a:r>
                <a:rPr lang="en-US" sz="4200" b="1" u="none">
                  <a:solidFill>
                    <a:srgbClr val="1F497D"/>
                  </a:solidFill>
                  <a:latin typeface="Georgia"/>
                  <a:cs typeface="Georgia"/>
                </a:rPr>
                <a:t>RESEARCH &amp; REFERENCES: Statutory Guidelines, Audits &amp; Frameworks</a:t>
              </a:r>
            </a:p>
          </p:txBody>
        </p:sp>
      </p:grpSp>
      <p:sp>
        <p:nvSpPr>
          <p:cNvPr id="629602924" name="TextBox 19"/>
          <p:cNvSpPr txBox="1"/>
          <p:nvPr/>
        </p:nvSpPr>
        <p:spPr bwMode="auto">
          <a:xfrm rot="0">
            <a:off x="1028700" y="3500000"/>
            <a:ext cx="16500000" cy="63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fr>
                <a:spcPts val="600"/>
              </a:spcBfr>
              <a:buNone/>
              <a:defRPr/>
            </a:pPr>
            <a:r>
              <a:rPr lang="en-US" sz="1900" b="1" u="sng">
                <a:solidFill>
                  <a:srgbClr val="1F497D"/>
                </a:solidFill>
                <a:latin typeface="Georgia"/>
                <a:cs typeface="Georgia"/>
              </a:rPr>
              <a:t>Details / Links of the reference and research work</a:t>
            </a:r>
          </a:p>
          <a:p>
            <a:pPr algn="l" lvl="1" marL="648000" indent="-216000">
              <a:lnSpc>
                <a:spcPts val="2300"/>
              </a:lnSpc>
              <a:spcBfr>
                <a:spcPts val="5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1. Ministry of Rural Development (MoRD), Govt. of India: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Pradhan Mantri Awaas Yojana - Gramin (PMAY-G) Operational Guidelines (2024 Revision) — Framework for 4 construction milestones (Foundation, Plinth, Lintel, Completion), geo-tagging norms, and unit assistance (₹1.20L plain / ₹1.30L hilly). Portal: https://pmayg.nic.in</a:t>
            </a:r>
          </a:p>
          <a:p>
            <a:pPr algn="l" lvl="1" marL="648000" indent="-216000">
              <a:lnSpc>
                <a:spcPts val="2300"/>
              </a:lnSpc>
              <a:spcBfr>
                <a:spcPts val="5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2. Public Financial Management System (PFMS), Ministry of Finance: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PFMS Direct Benefit Transfer (DBT) Technical Integration Specification v4.2 — Automated payment gateway standards, XML Financial Transaction Order (FTO) batch schemas, and Aadhaar Payment Bridge System (APBS). Portal: https://pfms.nic.in</a:t>
            </a:r>
          </a:p>
          <a:p>
            <a:pPr algn="l" lvl="1" marL="648000" indent="-216000">
              <a:lnSpc>
                <a:spcPts val="2300"/>
              </a:lnSpc>
              <a:spcBfr>
                <a:spcPts val="5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3. Socio-Economic and Caste Census (SECC) 2011 &amp; NFSA Database: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13-Point Automatic Exclusion &amp; Deprivation Scoring Framework for Rural Housing Eligibility Verification and Family Member Deduplication. Reference: MoRD SECC Operational Manual.</a:t>
            </a:r>
          </a:p>
          <a:p>
            <a:pPr algn="l" lvl="1" marL="648000" indent="-216000">
              <a:lnSpc>
                <a:spcPts val="2300"/>
              </a:lnSpc>
              <a:spcBfr>
                <a:spcPts val="5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4. Comptroller and Auditor General of India (CAG):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CAG Report on Performance Audit of Rural Housing Schemes in India (Report No. 8 of 2020) — Highlighting delays in stage inspection, duplicate beneficiary payouts, and unverified geo-tags. Portal: https://cag.gov.in</a:t>
            </a:r>
          </a:p>
          <a:p>
            <a:pPr algn="l" lvl="1" marL="648000" indent="-216000">
              <a:lnSpc>
                <a:spcPts val="2300"/>
              </a:lnSpc>
              <a:spcBfr>
                <a:spcPts val="5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5. W3C Standards &amp; Technical Cryptographic Frameworks: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W3C Web Cryptography API (W3C Recommendation 2017) — Client-side asymmetric ECDSA P-256 key generation; W3C Geolocation API Level 2; W3C Service Workers &amp; Indexed Database API 3.0 Specifications for Reliable Offline Operation.</a:t>
            </a:r>
          </a:p>
          <a:p>
            <a:pPr algn="l" lvl="1" marL="648000" indent="-216000">
              <a:lnSpc>
                <a:spcPts val="2300"/>
              </a:lnSpc>
              <a:spcBfr>
                <a:spcPts val="500"/>
              </a:spcBfr>
              <a:buFont typeface="Arial"/>
              <a:buChar char="•"/>
              <a:defRPr/>
            </a:pPr>
            <a:r>
              <a:rPr lang="en-US" sz="1450" b="1" u="none">
                <a:solidFill>
                  <a:srgbClr val="0E4D8C"/>
                </a:solidFill>
                <a:latin typeface="Georgia"/>
                <a:cs typeface="Georgia"/>
              </a:rPr>
              <a:t>6. Ministry of Panchayati Raj, Govt. of India: </a:t>
            </a:r>
            <a:r>
              <a:rPr lang="en-US" sz="1450" b="0" u="none">
                <a:solidFill>
                  <a:srgbClr val="262626"/>
                </a:solidFill>
                <a:latin typeface="Arial"/>
                <a:cs typeface="Arial"/>
              </a:rPr>
              <a:t>Gram Panchayat Development Plan (GPDP) Guidelines for XV Finance Commission Grants &amp; MGNREGS convergence for rural civic infrastructure monitoring. Portal: https://panchayat.gov.in</a:t>
            </a:r>
          </a:p>
        </p:txBody>
      </p:sp>
      <p:sp>
        <p:nvSpPr>
          <p:cNvPr id="1170463752" name=""/>
          <p:cNvSpPr/>
          <p:nvPr/>
        </p:nvSpPr>
        <p:spPr bwMode="auto">
          <a:xfrm rot="0" flipH="0" flipV="0">
            <a:off x="526311" y="30479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507543386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773427" y="386189"/>
            <a:ext cx="1336233" cy="1380906"/>
          </a:xfrm>
          <a:prstGeom prst="rect">
            <a:avLst/>
          </a:prstGeom>
        </p:spPr>
      </p:pic>
      <p:sp>
        <p:nvSpPr>
          <p:cNvPr id="780310890" name=""/>
          <p:cNvSpPr/>
          <p:nvPr/>
        </p:nvSpPr>
        <p:spPr bwMode="auto">
          <a:xfrm rot="0" flipH="0" flipV="0">
            <a:off x="14691452" y="386189"/>
            <a:ext cx="3064451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668999698" name="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 flipH="0" flipV="0">
            <a:off x="14745670" y="467150"/>
            <a:ext cx="3010232" cy="1290636"/>
          </a:xfrm>
          <a:prstGeom prst="rect">
            <a:avLst/>
          </a:prstGeom>
        </p:spPr>
      </p:pic>
      <p:sp>
        <p:nvSpPr>
          <p:cNvPr id="335618373" name=""/>
          <p:cNvSpPr/>
          <p:nvPr/>
        </p:nvSpPr>
        <p:spPr bwMode="auto">
          <a:xfrm rot="0" flipH="0" flipV="0">
            <a:off x="8418318" y="38618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324801677" name=""/>
          <p:cNvPicPr>
            <a:picLocks noChangeAspect="1"/>
          </p:cNvPicPr>
          <p:nvPr/>
        </p:nvPicPr>
        <p:blipFill rotWithShape="1">
          <a:blip r:embed="rId11"/>
          <a:srcRect l="26871" t="33796" r="25073" b="35879"/>
          <a:stretch/>
        </p:blipFill>
        <p:spPr bwMode="auto">
          <a:xfrm flipH="0" flipV="0">
            <a:off x="8530999" y="516764"/>
            <a:ext cx="1584388" cy="1250330"/>
          </a:xfrm>
          <a:prstGeom prst="rect">
            <a:avLst/>
          </a:prstGeom>
        </p:spPr>
      </p:pic>
    </p:spTree>
  </p:cSld>
  <p:clrMapOvr>
    <a:masterClrMapping/>
  </p:clrMapOvr>
  <ns3:AlternateContent>
    <ns3:Choice Requires="p159">
      <p:transition ns4:dur="500" advClick="1"/>
    </ns3:Choice>
    <ns3:Fallback>
      <p:transition advClick="1"/>
    </ns3:Fallback>
  </ns3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I.T.S ENGINEERING COLLEGE</dc:title>
  <dc:identifier>DAHYiCJG-bc</dc:identifier>
  <cp:lastModifiedBy/>
  <cp:revision>2</cp:revision>
  <dcterms:created xsi:type="dcterms:W3CDTF">2006-08-16T00:00:00Z</dcterms:created>
  <dcterms:modified xsi:type="dcterms:W3CDTF">2026-10-21T13:45:27Z</dcterms:modified>
</cp:coreProperties>
</file>